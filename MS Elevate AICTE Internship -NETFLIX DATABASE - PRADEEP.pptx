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p:scale>
          <a:sx n="100" d="100"/>
          <a:sy n="100" d="100"/>
        </p:scale>
        <p:origin x="876" y="240"/>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485994" y="813373"/>
            <a:ext cx="4746772" cy="2802416"/>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4600" b="1" cap="all" dirty="0">
                <a:latin typeface="Aptos"/>
              </a:rPr>
              <a:t>Netflix Content Analytics Dashboard using Power BI</a:t>
            </a:r>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PRADEEP P</a:t>
            </a:r>
          </a:p>
          <a:p>
            <a:pPr algn="l">
              <a:spcAft>
                <a:spcPts val="600"/>
              </a:spcAft>
            </a:pPr>
            <a:r>
              <a:rPr lang="en-US" sz="1600" b="1" cap="all" dirty="0"/>
              <a:t>College Name: PSNA COLLEGE OF ENGINEERNG AND TECHNOLOGY</a:t>
            </a:r>
          </a:p>
          <a:p>
            <a:pPr algn="l">
              <a:spcAft>
                <a:spcPts val="600"/>
              </a:spcAft>
            </a:pPr>
            <a:r>
              <a:rPr lang="en-US" sz="1600" b="1" cap="all" dirty="0"/>
              <a:t>Department: BE-EEE</a:t>
            </a:r>
          </a:p>
          <a:p>
            <a:pPr algn="l">
              <a:spcAft>
                <a:spcPts val="600"/>
              </a:spcAft>
            </a:pPr>
            <a:endParaRPr lang="en-US" sz="1600" b="1" cap="all" dirty="0">
              <a:latin typeface="Aptos" panose="020B0004020202020204" pitchFamily="34" charset="0"/>
              <a:cs typeface="Aharoni" panose="02010803020104030203" pitchFamily="2" charset="-79"/>
            </a:endParaRP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C416B7EC-F662-3AB6-042C-068262716CB2}"/>
              </a:ext>
            </a:extLst>
          </p:cNvPr>
          <p:cNvPicPr>
            <a:picLocks noChangeAspect="1"/>
          </p:cNvPicPr>
          <p:nvPr/>
        </p:nvPicPr>
        <p:blipFill>
          <a:blip r:embed="rId5"/>
          <a:stretch>
            <a:fillRect/>
          </a:stretch>
        </p:blipFill>
        <p:spPr>
          <a:xfrm>
            <a:off x="6644853" y="598082"/>
            <a:ext cx="4191521" cy="5306773"/>
          </a:xfrm>
          <a:prstGeom prst="rect">
            <a:avLst/>
          </a:prstGeom>
        </p:spPr>
      </p:pic>
      <p:sp>
        <p:nvSpPr>
          <p:cNvPr id="7" name="TextBox 6">
            <a:extLst>
              <a:ext uri="{FF2B5EF4-FFF2-40B4-BE49-F238E27FC236}">
                <a16:creationId xmlns:a16="http://schemas.microsoft.com/office/drawing/2014/main" id="{6E87E8D3-56C5-D3B6-CB9B-17E09357C780}"/>
              </a:ext>
            </a:extLst>
          </p:cNvPr>
          <p:cNvSpPr txBox="1"/>
          <p:nvPr/>
        </p:nvSpPr>
        <p:spPr>
          <a:xfrm>
            <a:off x="594127" y="5608670"/>
            <a:ext cx="4746772" cy="369332"/>
          </a:xfrm>
          <a:prstGeom prst="rect">
            <a:avLst/>
          </a:prstGeom>
          <a:noFill/>
        </p:spPr>
        <p:txBody>
          <a:bodyPr wrap="square" rtlCol="0">
            <a:spAutoFit/>
          </a:bodyPr>
          <a:lstStyle/>
          <a:p>
            <a:r>
              <a:rPr lang="en-US" b="1" dirty="0">
                <a:cs typeface="Aharoni" panose="02010803020104030203" pitchFamily="2" charset="-79"/>
              </a:rPr>
              <a:t>EMAIL ID := pradeepp26ee@psnacet.edu.in</a:t>
            </a:r>
            <a:endParaRPr lang="en-IN" b="1" dirty="0">
              <a:cs typeface="Aharoni" panose="02010803020104030203" pitchFamily="2" charset="-79"/>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100011" y="1549971"/>
            <a:ext cx="11993377" cy="4251960"/>
          </a:xfrm>
        </p:spPr>
        <p:txBody>
          <a:bodyPr vert="horz" lIns="91440" tIns="45720" rIns="91440" bIns="45720" rtlCol="0">
            <a:normAutofit/>
          </a:bodyPr>
          <a:lstStyle/>
          <a:p>
            <a:pPr marL="0" indent="0" algn="just">
              <a:buNone/>
            </a:pPr>
            <a:r>
              <a:rPr lang="en-US" sz="2200" dirty="0">
                <a:latin typeface="Times New Roman" panose="02020603050405020304" pitchFamily="18" charset="0"/>
                <a:cs typeface="Times New Roman" panose="02020603050405020304" pitchFamily="18" charset="0"/>
              </a:rPr>
              <a:t>Streaming platforms like Netflix contain a vast amount of content including movies and series across multiple genres, languages, and countries. Analyzing such large datasets manually makes it difficult to understand viewing trends, content distribution, and audience preferences. There is a need for an analytical system that can visualize Netflix data effectively to identify patterns such as genre popularity, language distribution, ratings, and content trends.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0" y="1266031"/>
            <a:ext cx="12065000" cy="5121894"/>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ea typeface="Calibri" panose="020F0502020204030204"/>
                <a:cs typeface="Times New Roman" panose="02020603050405020304" pitchFamily="18" charset="0"/>
              </a:rPr>
              <a:t>Streaming platforms like Netflix contain a vast amount of content including movies and series across multiple genres, languages, and countries. Analyzing such large datasets manually makes it difficult to understand viewing trends, content distribution, and audience preferences.</a:t>
            </a:r>
          </a:p>
          <a:p>
            <a:pPr marL="305435" indent="-305435">
              <a:spcBef>
                <a:spcPct val="20000"/>
              </a:spcBef>
              <a:spcAft>
                <a:spcPts val="600"/>
              </a:spcAft>
              <a:buFont typeface="Arial" panose="020B0604020202020204"/>
              <a:buChar char="•"/>
            </a:pPr>
            <a:r>
              <a:rPr lang="en-US" sz="1600" dirty="0">
                <a:latin typeface="Times New Roman" panose="02020603050405020304" pitchFamily="18" charset="0"/>
                <a:cs typeface="Times New Roman" panose="02020603050405020304" pitchFamily="18" charset="0"/>
              </a:rPr>
              <a:t>There is a need for an analytical system that can visualize Netflix data effectively to identify patterns such as genre popularity, language distribution, ratings, and content trends.</a:t>
            </a:r>
          </a:p>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cs typeface="Times New Roman" panose="02020603050405020304" pitchFamily="18" charset="0"/>
              </a:rPr>
              <a:t>Proposed System / </a:t>
            </a:r>
            <a:r>
              <a:rPr lang="en-US" sz="1600" b="1" dirty="0" err="1">
                <a:latin typeface="Times New Roman" panose="02020603050405020304" pitchFamily="18" charset="0"/>
                <a:cs typeface="Times New Roman" panose="02020603050405020304" pitchFamily="18" charset="0"/>
              </a:rPr>
              <a:t>SolutionThe</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proposed system aims to analyze and visualize Netflix content data to help users understand content distribution, identify popular genres, and explore patterns across languages, age ratings, and release years. This system uses data analytics and interactive visualization techniques to transform raw streaming data into meaningful insights. The solution will consist of the following components:</a:t>
            </a:r>
          </a:p>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cs typeface="Times New Roman" panose="02020603050405020304" pitchFamily="18" charset="0"/>
              </a:rPr>
              <a:t>Data Collection </a:t>
            </a:r>
            <a:r>
              <a:rPr lang="en-US" sz="1600" dirty="0">
                <a:latin typeface="Times New Roman" panose="02020603050405020304" pitchFamily="18" charset="0"/>
                <a:cs typeface="Times New Roman" panose="02020603050405020304" pitchFamily="18" charset="0"/>
              </a:rPr>
              <a:t>Gather historical Netflix dataset containing information such as title, genre, language, age rating, release year, country, and content type (movie or series).The dataset may also include additional information such as IMDb ratings and global distribution of content.</a:t>
            </a:r>
          </a:p>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cs typeface="Times New Roman" panose="02020603050405020304" pitchFamily="18" charset="0"/>
              </a:rPr>
              <a:t>Data Preprocessing </a:t>
            </a:r>
            <a:r>
              <a:rPr lang="en-US" sz="1600" dirty="0">
                <a:latin typeface="Times New Roman" panose="02020603050405020304" pitchFamily="18" charset="0"/>
                <a:cs typeface="Times New Roman" panose="02020603050405020304" pitchFamily="18" charset="0"/>
              </a:rPr>
              <a:t>Clean and preprocess the collected dataset to handle missing values, duplicate entries, and inconsistent data </a:t>
            </a:r>
            <a:r>
              <a:rPr lang="en-US" sz="1600" dirty="0" err="1">
                <a:latin typeface="Times New Roman" panose="02020603050405020304" pitchFamily="18" charset="0"/>
                <a:cs typeface="Times New Roman" panose="02020603050405020304" pitchFamily="18" charset="0"/>
              </a:rPr>
              <a:t>formats.Perform</a:t>
            </a:r>
            <a:r>
              <a:rPr lang="en-US" sz="1600" dirty="0">
                <a:latin typeface="Times New Roman" panose="02020603050405020304" pitchFamily="18" charset="0"/>
                <a:cs typeface="Times New Roman" panose="02020603050405020304" pitchFamily="18" charset="0"/>
              </a:rPr>
              <a:t> data transformation and formatting to prepare the dataset for effective analysis and visualization.</a:t>
            </a:r>
          </a:p>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cs typeface="Times New Roman" panose="02020603050405020304" pitchFamily="18" charset="0"/>
              </a:rPr>
              <a:t>Data Analysis </a:t>
            </a:r>
            <a:r>
              <a:rPr lang="en-US" sz="1600" dirty="0">
                <a:latin typeface="Times New Roman" panose="02020603050405020304" pitchFamily="18" charset="0"/>
                <a:cs typeface="Times New Roman" panose="02020603050405020304" pitchFamily="18" charset="0"/>
              </a:rPr>
              <a:t>Analyze Netflix content data to identify trends, patterns, and relationships between genres, ratings, and release </a:t>
            </a:r>
            <a:r>
              <a:rPr lang="en-US" sz="1600" dirty="0" err="1">
                <a:latin typeface="Times New Roman" panose="02020603050405020304" pitchFamily="18" charset="0"/>
                <a:cs typeface="Times New Roman" panose="02020603050405020304" pitchFamily="18" charset="0"/>
              </a:rPr>
              <a:t>years.Calculate</a:t>
            </a:r>
            <a:r>
              <a:rPr lang="en-US" sz="1600" dirty="0">
                <a:latin typeface="Times New Roman" panose="02020603050405020304" pitchFamily="18" charset="0"/>
                <a:cs typeface="Times New Roman" panose="02020603050405020304" pitchFamily="18" charset="0"/>
              </a:rPr>
              <a:t> statistical measures such as total number of titles, genre distribution, language distribution, and age rating analysis.</a:t>
            </a:r>
          </a:p>
          <a:p>
            <a:pPr marL="305435" indent="-305435">
              <a:spcBef>
                <a:spcPct val="20000"/>
              </a:spcBef>
              <a:spcAft>
                <a:spcPts val="600"/>
              </a:spcAft>
              <a:buFont typeface="Arial" panose="020B0604020202020204"/>
              <a:buChar char="•"/>
            </a:pPr>
            <a:r>
              <a:rPr lang="en-US" sz="1600" b="1" dirty="0">
                <a:latin typeface="Times New Roman" panose="02020603050405020304" pitchFamily="18" charset="0"/>
                <a:cs typeface="Times New Roman" panose="02020603050405020304" pitchFamily="18" charset="0"/>
              </a:rPr>
              <a:t>Data Visualization </a:t>
            </a:r>
            <a:r>
              <a:rPr lang="en-US" sz="1600" dirty="0">
                <a:latin typeface="Times New Roman" panose="02020603050405020304" pitchFamily="18" charset="0"/>
                <a:cs typeface="Times New Roman" panose="02020603050405020304" pitchFamily="18" charset="0"/>
              </a:rPr>
              <a:t>Develop an interactive dashboard using Microsoft Power BI to present Netflix data through various </a:t>
            </a:r>
            <a:r>
              <a:rPr lang="en-US" sz="1600" dirty="0" err="1">
                <a:latin typeface="Times New Roman" panose="02020603050405020304" pitchFamily="18" charset="0"/>
                <a:cs typeface="Times New Roman" panose="02020603050405020304" pitchFamily="18" charset="0"/>
              </a:rPr>
              <a:t>visualizations.Use</a:t>
            </a:r>
            <a:r>
              <a:rPr lang="en-US" sz="1600" dirty="0">
                <a:latin typeface="Times New Roman" panose="02020603050405020304" pitchFamily="18" charset="0"/>
                <a:cs typeface="Times New Roman" panose="02020603050405020304" pitchFamily="18" charset="0"/>
              </a:rPr>
              <a:t> charts such as bar charts, line charts, pie charts, </a:t>
            </a:r>
            <a:r>
              <a:rPr lang="en-US" sz="1600" dirty="0" err="1">
                <a:latin typeface="Times New Roman" panose="02020603050405020304" pitchFamily="18" charset="0"/>
                <a:cs typeface="Times New Roman" panose="02020603050405020304" pitchFamily="18" charset="0"/>
              </a:rPr>
              <a:t>treemaps</a:t>
            </a:r>
            <a:r>
              <a:rPr lang="en-US" sz="1600" dirty="0">
                <a:latin typeface="Times New Roman" panose="02020603050405020304" pitchFamily="18" charset="0"/>
                <a:cs typeface="Times New Roman" panose="02020603050405020304" pitchFamily="18" charset="0"/>
              </a:rPr>
              <a:t>, maps, and KPI indicators to display content trends, genre popularity, language distribution, and geographic availability.</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411389" y="1362309"/>
            <a:ext cx="10515600" cy="4251960"/>
          </a:xfrm>
        </p:spPr>
        <p:txBody>
          <a:bodyPr vert="horz" lIns="91440" tIns="45720" rIns="91440" bIns="45720" rtlCol="0">
            <a:noAutofit/>
          </a:bodyPr>
          <a:lstStyle/>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The project was developed using Business Intelligence and Data Visualization techniques.</a:t>
            </a: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Technologies Used</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Microsoft Power BI</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Data visualization and dashboard development</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Interactive charts and analytics</a:t>
            </a: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Microsoft Excel </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Data storage and dataset management</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Dataset preparation and organization</a:t>
            </a: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Power Query</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Data cleaning and transformation</a:t>
            </a:r>
          </a:p>
          <a:p>
            <a:pPr>
              <a:spcBef>
                <a:spcPct val="20000"/>
              </a:spcBef>
              <a:spcAft>
                <a:spcPts val="600"/>
              </a:spcAft>
            </a:pPr>
            <a:r>
              <a:rPr lang="en-IN" sz="1600" b="1" dirty="0">
                <a:latin typeface="Times New Roman" panose="02020603050405020304" pitchFamily="18" charset="0"/>
                <a:cs typeface="Times New Roman" panose="02020603050405020304" pitchFamily="18" charset="0"/>
              </a:rPr>
              <a:t>Handling missing values and formatting data</a:t>
            </a:r>
          </a:p>
          <a:p>
            <a:pPr marL="0" indent="0">
              <a:spcBef>
                <a:spcPct val="20000"/>
              </a:spcBef>
              <a:spcAft>
                <a:spcPts val="600"/>
              </a:spcAft>
              <a:buNone/>
            </a:pPr>
            <a:endParaRPr lang="en-IN" sz="1600" b="1" dirty="0">
              <a:latin typeface="Times New Roman" panose="02020603050405020304" pitchFamily="18" charset="0"/>
              <a:cs typeface="Times New Roman" panose="02020603050405020304" pitchFamily="18" charset="0"/>
            </a:endParaRP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Data Visualization Techniques</a:t>
            </a: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Line charts, Bar chart, Pie charts. </a:t>
            </a:r>
            <a:r>
              <a:rPr lang="en-IN" sz="1600" b="1" dirty="0" err="1">
                <a:latin typeface="Times New Roman" panose="02020603050405020304" pitchFamily="18" charset="0"/>
                <a:cs typeface="Times New Roman" panose="02020603050405020304" pitchFamily="18" charset="0"/>
              </a:rPr>
              <a:t>Treemaps</a:t>
            </a:r>
            <a:r>
              <a:rPr lang="en-IN" sz="1600" b="1" dirty="0">
                <a:latin typeface="Times New Roman" panose="02020603050405020304" pitchFamily="18" charset="0"/>
                <a:cs typeface="Times New Roman" panose="02020603050405020304" pitchFamily="18" charset="0"/>
              </a:rPr>
              <a:t>, Maps, KPI indicators </a:t>
            </a:r>
          </a:p>
          <a:p>
            <a:pPr marL="0" indent="0">
              <a:spcBef>
                <a:spcPct val="20000"/>
              </a:spcBef>
              <a:spcAft>
                <a:spcPts val="600"/>
              </a:spcAft>
              <a:buNone/>
            </a:pPr>
            <a:r>
              <a:rPr lang="en-IN" sz="1600" b="1" dirty="0">
                <a:latin typeface="Times New Roman" panose="02020603050405020304" pitchFamily="18" charset="0"/>
                <a:cs typeface="Times New Roman" panose="02020603050405020304" pitchFamily="18" charset="0"/>
              </a:rPr>
              <a:t>These technologies enable effective analysis and visualization of Netflix streaming content data.</a:t>
            </a:r>
            <a:endParaRPr lang="en-GB"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5" name="Rectangle 2">
            <a:extLst>
              <a:ext uri="{FF2B5EF4-FFF2-40B4-BE49-F238E27FC236}">
                <a16:creationId xmlns:a16="http://schemas.microsoft.com/office/drawing/2014/main" id="{558A26C6-5710-B402-9E4B-83D576C251BE}"/>
              </a:ext>
            </a:extLst>
          </p:cNvPr>
          <p:cNvSpPr>
            <a:spLocks noGrp="1" noChangeArrowheads="1"/>
          </p:cNvSpPr>
          <p:nvPr>
            <p:ph idx="1"/>
          </p:nvPr>
        </p:nvSpPr>
        <p:spPr bwMode="auto">
          <a:xfrm>
            <a:off x="355600" y="1660779"/>
            <a:ext cx="11480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OTT platform data including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Netflix, Amazon Prime, Disney+ and Hotstar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details like title, genre, release year, language, rating, and country.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the dataset by removing missing values, correcting formats, and standardizing column names.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Transformation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Query Editor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transform the data, split columns, and create calculated fields.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Modeling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relationships between tables and created measures using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DAX functions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Visualization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interactive dashboards using charts such as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Pie Chart, Map, KPI Cards, and Bar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 Generation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the data to identify trends like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 genres, content distribution by country, and language preferences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1191" y="1061399"/>
            <a:ext cx="11946448" cy="2965291"/>
          </a:xfrm>
        </p:spPr>
        <p:txBody>
          <a:bodyPr vert="horz" lIns="91440" tIns="45720" rIns="91440" bIns="45720" rtlCol="0">
            <a:normAutofit fontScale="85000" lnSpcReduction="20000"/>
          </a:bodyPr>
          <a:lstStyle/>
          <a:p>
            <a:pPr marL="0" indent="0">
              <a:buNone/>
            </a:pPr>
            <a:r>
              <a:rPr lang="en-US" sz="2200" dirty="0">
                <a:latin typeface="Times New Roman" panose="02020603050405020304" pitchFamily="18" charset="0"/>
                <a:cs typeface="Times New Roman" panose="02020603050405020304" pitchFamily="18" charset="0"/>
              </a:rPr>
              <a:t>The dashboard contains three major sections: </a:t>
            </a:r>
          </a:p>
          <a:p>
            <a:pPr marL="0" indent="0">
              <a:buNone/>
            </a:pPr>
            <a:r>
              <a:rPr lang="en-US" sz="2200" b="1" dirty="0">
                <a:latin typeface="Times New Roman" panose="02020603050405020304" pitchFamily="18" charset="0"/>
                <a:cs typeface="Times New Roman" panose="02020603050405020304" pitchFamily="18" charset="0"/>
              </a:rPr>
              <a:t>Content Overview</a:t>
            </a:r>
          </a:p>
          <a:p>
            <a:pPr marL="0" indent="0">
              <a:buNone/>
            </a:pPr>
            <a:r>
              <a:rPr lang="en-US" sz="2200" dirty="0">
                <a:latin typeface="Times New Roman" panose="02020603050405020304" pitchFamily="18" charset="0"/>
                <a:cs typeface="Times New Roman" panose="02020603050405020304" pitchFamily="18" charset="0"/>
              </a:rPr>
              <a:t>Displays overall distribution of movies and series Shows key content indicators such as total titles and ratings Compares content distribution across genres </a:t>
            </a:r>
          </a:p>
          <a:p>
            <a:pPr marL="0" indent="0">
              <a:buNone/>
            </a:pPr>
            <a:r>
              <a:rPr lang="en-US" sz="2200" b="1" dirty="0">
                <a:latin typeface="Times New Roman" panose="02020603050405020304" pitchFamily="18" charset="0"/>
                <a:cs typeface="Times New Roman" panose="02020603050405020304" pitchFamily="18" charset="0"/>
              </a:rPr>
              <a:t>Content Analysis</a:t>
            </a:r>
          </a:p>
          <a:p>
            <a:pPr marL="0" indent="0">
              <a:buNone/>
            </a:pPr>
            <a:r>
              <a:rPr lang="en-US" sz="2200" dirty="0">
                <a:latin typeface="Times New Roman" panose="02020603050405020304" pitchFamily="18" charset="0"/>
                <a:cs typeface="Times New Roman" panose="02020603050405020304" pitchFamily="18" charset="0"/>
              </a:rPr>
              <a:t>Analyzes relationships between genre, age ratings, and language distribution Shows trends in content release across different years</a:t>
            </a:r>
          </a:p>
          <a:p>
            <a:pPr marL="0" indent="0">
              <a:buNone/>
            </a:pPr>
            <a:r>
              <a:rPr lang="en-US" sz="2200" b="1" dirty="0">
                <a:latin typeface="Times New Roman" panose="02020603050405020304" pitchFamily="18" charset="0"/>
                <a:cs typeface="Times New Roman" panose="02020603050405020304" pitchFamily="18" charset="0"/>
              </a:rPr>
              <a:t>Geographic Distribution </a:t>
            </a:r>
          </a:p>
          <a:p>
            <a:pPr marL="0" indent="0">
              <a:buNone/>
            </a:pPr>
            <a:r>
              <a:rPr lang="en-US" sz="2200" dirty="0">
                <a:latin typeface="Times New Roman" panose="02020603050405020304" pitchFamily="18" charset="0"/>
                <a:cs typeface="Times New Roman" panose="02020603050405020304" pitchFamily="18" charset="0"/>
              </a:rPr>
              <a:t>Displays country-wise distribution of Netflix content on a map Shows global availability of titles Identifies major regions contribution</a:t>
            </a:r>
          </a:p>
        </p:txBody>
      </p:sp>
      <p:pic>
        <p:nvPicPr>
          <p:cNvPr id="5" name="Picture 4">
            <a:extLst>
              <a:ext uri="{FF2B5EF4-FFF2-40B4-BE49-F238E27FC236}">
                <a16:creationId xmlns:a16="http://schemas.microsoft.com/office/drawing/2014/main" id="{BC578E3D-6023-7221-2A7D-78971C57EB0C}"/>
              </a:ext>
            </a:extLst>
          </p:cNvPr>
          <p:cNvPicPr>
            <a:picLocks noChangeAspect="1"/>
          </p:cNvPicPr>
          <p:nvPr/>
        </p:nvPicPr>
        <p:blipFill>
          <a:blip r:embed="rId2"/>
          <a:stretch>
            <a:fillRect/>
          </a:stretch>
        </p:blipFill>
        <p:spPr>
          <a:xfrm>
            <a:off x="414564" y="3881093"/>
            <a:ext cx="5123542" cy="2788127"/>
          </a:xfrm>
          <a:prstGeom prst="rect">
            <a:avLst/>
          </a:prstGeom>
        </p:spPr>
      </p:pic>
      <p:pic>
        <p:nvPicPr>
          <p:cNvPr id="7" name="Picture 6">
            <a:extLst>
              <a:ext uri="{FF2B5EF4-FFF2-40B4-BE49-F238E27FC236}">
                <a16:creationId xmlns:a16="http://schemas.microsoft.com/office/drawing/2014/main" id="{D7D53451-8B8B-2E48-71CD-088E51FEE8DD}"/>
              </a:ext>
            </a:extLst>
          </p:cNvPr>
          <p:cNvPicPr>
            <a:picLocks noChangeAspect="1"/>
          </p:cNvPicPr>
          <p:nvPr/>
        </p:nvPicPr>
        <p:blipFill>
          <a:blip r:embed="rId3"/>
          <a:stretch>
            <a:fillRect/>
          </a:stretch>
        </p:blipFill>
        <p:spPr>
          <a:xfrm>
            <a:off x="6200775" y="3874788"/>
            <a:ext cx="4857578" cy="27944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dirty="0">
                <a:latin typeface="Times New Roman" panose="02020603050405020304" pitchFamily="18" charset="0"/>
                <a:cs typeface="Times New Roman" panose="02020603050405020304" pitchFamily="18" charset="0"/>
              </a:rPr>
              <a:t>The *Netflix Content Analytics Dashboard* successfully demonstrates how streaming data can be </a:t>
            </a:r>
            <a:r>
              <a:rPr lang="en-IN" sz="2200" dirty="0" err="1">
                <a:latin typeface="Times New Roman" panose="02020603050405020304" pitchFamily="18" charset="0"/>
                <a:cs typeface="Times New Roman" panose="02020603050405020304" pitchFamily="18" charset="0"/>
              </a:rPr>
              <a:t>analyzed</a:t>
            </a:r>
            <a:r>
              <a:rPr lang="en-IN" sz="2200" dirty="0">
                <a:latin typeface="Times New Roman" panose="02020603050405020304" pitchFamily="18" charset="0"/>
                <a:cs typeface="Times New Roman" panose="02020603050405020304" pitchFamily="18" charset="0"/>
              </a:rPr>
              <a:t> using interactive visualizations. The dashboard helps users understand content distribution, compare genres and ratings, and identify trends across languages, countries, and release years. Using *Microsoft Power BI* simplifies complex datasets and provides meaningful insights for better understanding of Netflix content patterns.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lnSpcReduction="10000"/>
          </a:bodyPr>
          <a:lstStyle/>
          <a:p>
            <a:pPr marL="0" indent="0">
              <a:spcBef>
                <a:spcPct val="20000"/>
              </a:spcBef>
              <a:spcAft>
                <a:spcPts val="600"/>
              </a:spcAft>
              <a:buNone/>
            </a:pPr>
            <a:endParaRPr lang="en-US" sz="2200" dirty="0">
              <a:latin typeface="Times New Roman" panose="02020603050405020304" pitchFamily="18" charset="0"/>
              <a:cs typeface="Times New Roman" panose="02020603050405020304" pitchFamily="18" charset="0"/>
            </a:endParaRPr>
          </a:p>
          <a:p>
            <a:pPr>
              <a:spcBef>
                <a:spcPct val="20000"/>
              </a:spcBef>
              <a:spcAft>
                <a:spcPts val="600"/>
              </a:spcAft>
            </a:pPr>
            <a:r>
              <a:rPr lang="en-US" sz="2200" dirty="0">
                <a:latin typeface="Times New Roman" panose="02020603050405020304" pitchFamily="18" charset="0"/>
                <a:cs typeface="Times New Roman" panose="02020603050405020304" pitchFamily="18" charset="0"/>
              </a:rPr>
              <a:t>Integration of real-time streaming data*</a:t>
            </a:r>
          </a:p>
          <a:p>
            <a:pPr>
              <a:spcBef>
                <a:spcPct val="20000"/>
              </a:spcBef>
              <a:spcAft>
                <a:spcPts val="600"/>
              </a:spcAft>
            </a:pPr>
            <a:r>
              <a:rPr lang="en-US" sz="2200" dirty="0">
                <a:latin typeface="Times New Roman" panose="02020603050405020304" pitchFamily="18" charset="0"/>
                <a:cs typeface="Times New Roman" panose="02020603050405020304" pitchFamily="18" charset="0"/>
              </a:rPr>
              <a:t>Machine learning models for content recommendation</a:t>
            </a:r>
          </a:p>
          <a:p>
            <a:pPr>
              <a:spcBef>
                <a:spcPct val="20000"/>
              </a:spcBef>
              <a:spcAft>
                <a:spcPts val="600"/>
              </a:spcAft>
            </a:pPr>
            <a:r>
              <a:rPr lang="en-US" sz="2200" dirty="0">
                <a:latin typeface="Times New Roman" panose="02020603050405020304" pitchFamily="18" charset="0"/>
                <a:cs typeface="Times New Roman" panose="02020603050405020304" pitchFamily="18" charset="0"/>
              </a:rPr>
              <a:t>Prediction of future content trends</a:t>
            </a:r>
          </a:p>
          <a:p>
            <a:pPr>
              <a:spcBef>
                <a:spcPct val="20000"/>
              </a:spcBef>
              <a:spcAft>
                <a:spcPts val="600"/>
              </a:spcAft>
            </a:pPr>
            <a:r>
              <a:rPr lang="en-US" sz="2200" dirty="0">
                <a:latin typeface="Times New Roman" panose="02020603050405020304" pitchFamily="18" charset="0"/>
                <a:cs typeface="Times New Roman" panose="02020603050405020304" pitchFamily="18" charset="0"/>
              </a:rPr>
              <a:t>Mobile-friendly dashboards</a:t>
            </a:r>
          </a:p>
          <a:p>
            <a:pPr>
              <a:spcBef>
                <a:spcPct val="20000"/>
              </a:spcBef>
              <a:spcAft>
                <a:spcPts val="600"/>
              </a:spcAft>
            </a:pPr>
            <a:r>
              <a:rPr lang="en-US" sz="2200" dirty="0">
                <a:latin typeface="Times New Roman" panose="02020603050405020304" pitchFamily="18" charset="0"/>
                <a:cs typeface="Times New Roman" panose="02020603050405020304" pitchFamily="18" charset="0"/>
              </a:rPr>
              <a:t> Integration with cloud platforms</a:t>
            </a:r>
          </a:p>
          <a:p>
            <a:pPr>
              <a:spcBef>
                <a:spcPct val="20000"/>
              </a:spcBef>
              <a:spcAft>
                <a:spcPts val="600"/>
              </a:spcAft>
            </a:pPr>
            <a:r>
              <a:rPr lang="en-US" sz="2200" dirty="0">
                <a:latin typeface="Times New Roman" panose="02020603050405020304" pitchFamily="18" charset="0"/>
                <a:cs typeface="Times New Roman" panose="02020603050405020304" pitchFamily="18" charset="0"/>
              </a:rPr>
              <a:t>Advanced analytics using Python or other data science tools</a:t>
            </a:r>
          </a:p>
          <a:p>
            <a:pPr>
              <a:spcBef>
                <a:spcPct val="20000"/>
              </a:spcBef>
              <a:spcAft>
                <a:spcPts val="600"/>
              </a:spcAft>
            </a:pPr>
            <a:endParaRPr lang="en-US" sz="2200" dirty="0">
              <a:latin typeface="Times New Roman" panose="02020603050405020304" pitchFamily="18" charset="0"/>
              <a:cs typeface="Times New Roman" panose="02020603050405020304" pitchFamily="18" charset="0"/>
            </a:endParaRPr>
          </a:p>
          <a:p>
            <a:pPr marL="0" indent="0">
              <a:spcBef>
                <a:spcPct val="20000"/>
              </a:spcBef>
              <a:spcAft>
                <a:spcPts val="600"/>
              </a:spcAft>
              <a:buNone/>
            </a:pPr>
            <a:r>
              <a:rPr lang="en-US" sz="2200" dirty="0">
                <a:latin typeface="Times New Roman" panose="02020603050405020304" pitchFamily="18" charset="0"/>
                <a:cs typeface="Times New Roman" panose="02020603050405020304" pitchFamily="18" charset="0"/>
              </a:rPr>
              <a:t>These improvements can help provide deeper insights into streaming content patterns and user preferences.</a:t>
            </a:r>
            <a:endParaRPr lang="en-GB"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200" dirty="0">
                <a:latin typeface="Franklin Gothic Book" panose="020B0503020102020204"/>
              </a:rPr>
              <a:t>Microsoft Power BI Documentation</a:t>
            </a:r>
          </a:p>
          <a:p>
            <a:r>
              <a:rPr lang="en-IN" sz="2200" dirty="0">
                <a:latin typeface="Franklin Gothic Book" panose="020B0503020102020204"/>
              </a:rPr>
              <a:t> Netflix Dataset Sources</a:t>
            </a:r>
          </a:p>
          <a:p>
            <a:r>
              <a:rPr lang="en-IN" sz="2200" dirty="0">
                <a:latin typeface="Franklin Gothic Book" panose="020B0503020102020204"/>
              </a:rPr>
              <a:t> Data Visualization Best Practices</a:t>
            </a:r>
          </a:p>
          <a:p>
            <a:r>
              <a:rPr lang="en-IN" sz="2200" dirty="0">
                <a:latin typeface="Franklin Gothic Book" panose="020B0503020102020204"/>
              </a:rPr>
              <a:t> Research articles on streaming platform analytics</a:t>
            </a:r>
          </a:p>
          <a:p>
            <a:r>
              <a:rPr lang="en-IN" sz="2200" dirty="0">
                <a:latin typeface="Franklin Gothic Book" panose="020B0503020102020204"/>
              </a:rPr>
              <a:t> Online resources for Power BI dashboard development</a:t>
            </a:r>
          </a:p>
          <a:p>
            <a:r>
              <a:rPr lang="en-IN" sz="2200" dirty="0">
                <a:latin typeface="Franklin Gothic Book" panose="020B0503020102020204"/>
              </a:rPr>
              <a:t>GitHub Link:</a:t>
            </a:r>
            <a:r>
              <a:rPr lang="en-IN" sz="2200" dirty="0">
                <a:solidFill>
                  <a:srgbClr val="0070C0"/>
                </a:solidFill>
                <a:latin typeface="Franklin Gothic Book" panose="020B0503020102020204"/>
              </a:rPr>
              <a:t> https://github.com/pradeep161205/Netflix-Content-Analytics-Dashboard-using-Power-BI</a:t>
            </a: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931</Words>
  <Application>Microsoft Office PowerPoint</Application>
  <PresentationFormat>Widescreen</PresentationFormat>
  <Paragraphs>84</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Aharoni</vt:lpstr>
      <vt:lpstr>Aptos</vt:lpstr>
      <vt:lpstr>Arial</vt:lpstr>
      <vt:lpstr>Calibri</vt:lpstr>
      <vt:lpstr>Franklin Gothic Book</vt:lpstr>
      <vt:lpstr>Times New Roman</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PRADEEP P</cp:lastModifiedBy>
  <cp:revision>102</cp:revision>
  <dcterms:created xsi:type="dcterms:W3CDTF">2024-05-21T11:55:00Z</dcterms:created>
  <dcterms:modified xsi:type="dcterms:W3CDTF">2026-03-14T18:38:52Z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